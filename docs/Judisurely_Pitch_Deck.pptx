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9933"/>
                </a:solidFill>
              </a:defRPr>
            </a:pPr>
            <a:r>
              <a:t>⚖️ Nyay Mitra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>
                <a:solidFill>
                  <a:srgbClr val="FFFFFF"/>
                </a:solidFill>
              </a:defRPr>
            </a:pPr>
            <a:r>
              <a:t>AI Legal Action Engine  |  Powered by Gemma 4</a:t>
            </a:r>
            <a:br/>
            <a:r>
              <a:t>Track 1: AI for Legal Assistance  ·  Build with Gemma – AIMS DTU</a:t>
            </a:r>
            <a:br/>
            <a:r>
              <a:t>Team: Harshit · Prem · Shreya  |  github.com/Harsh7t/Judisurely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515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64748B"/>
                </a:solidFill>
              </a:defRPr>
            </a:pPr>
            <a:r>
              <a:t>A human story, a systemic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8229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A1A2E"/>
                </a:solidFill>
              </a:defRPr>
            </a:pPr>
            <a:r>
              <a:t>Meet Ramesh — a street vendor in Delhi who receives a legal notice he cannot read.</a:t>
            </a:r>
          </a:p>
          <a:p>
            <a:pPr>
              <a:spcAft>
                <a:spcPts val="700"/>
              </a:spcAft>
              <a:defRPr sz="1500">
                <a:solidFill>
                  <a:srgbClr val="1A1A2E"/>
                </a:solidFill>
              </a:defRPr>
            </a:pPr>
            <a:r>
              <a:t>30+ crore pending court cases in India. Legal help costs ₹1,500–5,000 for a first consultation.</a:t>
            </a:r>
          </a:p>
          <a:p>
            <a:pPr>
              <a:spcAft>
                <a:spcPts val="700"/>
              </a:spcAft>
              <a:defRPr sz="1500">
                <a:solidFill>
                  <a:srgbClr val="1A1A2E"/>
                </a:solidFill>
              </a:defRPr>
            </a:pPr>
            <a:r>
              <a:t>Existing AI tools only explain documents — they don't tell you what to DO next.</a:t>
            </a:r>
          </a:p>
          <a:p>
            <a:pPr>
              <a:spcAft>
                <a:spcPts val="700"/>
              </a:spcAft>
              <a:defRPr sz="1500">
                <a:solidFill>
                  <a:srgbClr val="1A1A2E"/>
                </a:solidFill>
              </a:defRPr>
            </a:pPr>
            <a:r>
              <a:t>Language barrier: 22+ Indian languages, legal English incomprehensible to most citizens.</a:t>
            </a:r>
          </a:p>
          <a:p>
            <a:pPr>
              <a:spcAft>
                <a:spcPts val="700"/>
              </a:spcAft>
              <a:defRPr sz="1500">
                <a:solidFill>
                  <a:srgbClr val="1A1A2E"/>
                </a:solidFill>
              </a:defRPr>
            </a:pPr>
            <a:r>
              <a:t>Hallucination risk: Wrong law or deadline in legal AI = real-world harm.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User Journey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515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64748B"/>
                </a:solidFill>
              </a:defRPr>
            </a:pPr>
            <a:r>
              <a:t>From panic to action in under 2 minutes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828800"/>
            <a:ext cx="1234440" cy="86868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1A2E"/>
                </a:solidFill>
              </a:defRPr>
            </a:pPr>
            <a:r>
              <a:t>1. Receives</a:t>
            </a:r>
            <a:br/>
            <a:r>
              <a:t>Legal Notice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2880360"/>
            <a:ext cx="12344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1A1A2E"/>
                </a:solidFill>
              </a:defRPr>
            </a:pPr>
            <a:r>
              <a:t>Ramesh gets rent</a:t>
            </a:r>
            <a:br/>
            <a:r>
              <a:t>eviction notice</a:t>
            </a:r>
            <a:br/>
            <a:r>
              <a:t>(Hindi/English)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554480" y="2263140.0"/>
            <a:ext cx="256032" cy="0.0"/>
          </a:xfrm>
          <a:prstGeom prst="line">
            <a:avLst/>
          </a:prstGeom>
          <a:ln w="25400">
            <a:solidFill>
              <a:srgbClr val="1A1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810512" y="1828800"/>
            <a:ext cx="1234440" cy="86868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1A2E"/>
                </a:solidFill>
              </a:defRPr>
            </a:pPr>
            <a:r>
              <a:t>2. Uploads</a:t>
            </a:r>
            <a:br/>
            <a:r>
              <a:t>Notice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10512" y="2880360"/>
            <a:ext cx="12344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1A1A2E"/>
                </a:solidFill>
              </a:defRPr>
            </a:pPr>
            <a:r>
              <a:t>Photo, PDF,</a:t>
            </a:r>
            <a:br/>
            <a:r>
              <a:t>or paste text</a:t>
            </a:r>
            <a:br/>
            <a:r>
              <a:t>(+ voice roadmap)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044952" y="2263140.0"/>
            <a:ext cx="256032" cy="0.0"/>
          </a:xfrm>
          <a:prstGeom prst="line">
            <a:avLst/>
          </a:prstGeom>
          <a:ln w="25400">
            <a:solidFill>
              <a:srgbClr val="1A1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300984" y="1828800"/>
            <a:ext cx="1234440" cy="86868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1A2E"/>
                </a:solidFill>
              </a:defRPr>
            </a:pPr>
            <a:r>
              <a:t>3. AI Reads</a:t>
            </a:r>
            <a:br/>
            <a:r>
              <a:t>&amp; Extracts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00984" y="2880360"/>
            <a:ext cx="12344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1A1A2E"/>
                </a:solidFill>
              </a:defRPr>
            </a:pPr>
            <a:r>
              <a:t>Gemma Call 1</a:t>
            </a:r>
            <a:br/>
            <a:r>
              <a:t>parses parties,</a:t>
            </a:r>
            <a:br/>
            <a:r>
              <a:t>deadlines, demands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35424" y="2263140.0"/>
            <a:ext cx="256032" cy="0.0"/>
          </a:xfrm>
          <a:prstGeom prst="line">
            <a:avLst/>
          </a:prstGeom>
          <a:ln w="25400">
            <a:solidFill>
              <a:srgbClr val="1A1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791456" y="1828800"/>
            <a:ext cx="1234440" cy="86868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1A2E"/>
                </a:solidFill>
              </a:defRPr>
            </a:pPr>
            <a:r>
              <a:t>4. Law</a:t>
            </a:r>
            <a:br/>
            <a:r>
              <a:t>Retrieved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91456" y="2880360"/>
            <a:ext cx="12344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1A1A2E"/>
                </a:solidFill>
              </a:defRPr>
            </a:pPr>
            <a:r>
              <a:t>Guarded RAG finds</a:t>
            </a:r>
            <a:br/>
            <a:r>
              <a:t>relevant Indian</a:t>
            </a:r>
            <a:br/>
            <a:r>
              <a:t>law clauses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25896" y="2263140.0"/>
            <a:ext cx="256032" cy="0.0"/>
          </a:xfrm>
          <a:prstGeom prst="line">
            <a:avLst/>
          </a:prstGeom>
          <a:ln w="25400">
            <a:solidFill>
              <a:srgbClr val="1A1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81928" y="1828800"/>
            <a:ext cx="1234440" cy="86868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1A2E"/>
                </a:solidFill>
              </a:defRPr>
            </a:pPr>
            <a:r>
              <a:t>5. Gets Action</a:t>
            </a:r>
            <a:br/>
            <a:r>
              <a:t>Plan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81928" y="2880360"/>
            <a:ext cx="12344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1A1A2E"/>
                </a:solidFill>
              </a:defRPr>
            </a:pPr>
            <a:r>
              <a:t>Rights + Options +</a:t>
            </a:r>
            <a:br/>
            <a:r>
              <a:t>Thinking trace +</a:t>
            </a:r>
            <a:br/>
            <a:r>
              <a:t>urgency badge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516368" y="2263140.0"/>
            <a:ext cx="256032" cy="0.0"/>
          </a:xfrm>
          <a:prstGeom prst="line">
            <a:avLst/>
          </a:prstGeom>
          <a:ln w="25400">
            <a:solidFill>
              <a:srgbClr val="1A1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772400" y="1828800"/>
            <a:ext cx="1234440" cy="86868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1A2E"/>
                </a:solidFill>
              </a:defRPr>
            </a:pPr>
            <a:r>
              <a:t>6. Downloads</a:t>
            </a:r>
            <a:br/>
            <a:r>
              <a:t>Draft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0" y="2880360"/>
            <a:ext cx="12344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1A1A2E"/>
                </a:solidFill>
              </a:defRPr>
            </a:pPr>
            <a:r>
              <a:t>Auto-filled reply</a:t>
            </a:r>
            <a:br/>
            <a:r>
              <a:t>PDF ready to</a:t>
            </a:r>
            <a:br/>
            <a:r>
              <a:t>send to lawyer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4114800"/>
            <a:ext cx="3840480" cy="9144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1A1A2E"/>
                </a:solidFill>
              </a:defRPr>
            </a:pPr>
            <a:r>
              <a:t>❌ Others: "What does this mean?"</a:t>
            </a:r>
            <a:br/>
            <a:r>
              <a:t>Explain only — no next step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0" y="4114800"/>
            <a:ext cx="4114800" cy="9144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2E"/>
                </a:solidFill>
              </a:defRPr>
            </a:pPr>
            <a:r>
              <a:t>✅ Nyay Mitra: "What do I do NOW?"</a:t>
            </a:r>
            <a:br/>
            <a:r>
              <a:t>Action plan + ready-to-send legal draft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5303520"/>
            <a:ext cx="8321040" cy="6400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Impact: First legal consultation cost drops from ₹1,500–5,000 → ₹0  |  30+ crore pending cases need accessible first-step guidance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AI Pipeline Flowchart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515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64748B"/>
                </a:solidFill>
              </a:defRPr>
            </a:pPr>
            <a:r>
              <a:t>Gemma 4 is the engine — guarded by verified legal knowledge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34640" y="1325880"/>
            <a:ext cx="3474720" cy="65836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1A2E"/>
                </a:solidFill>
              </a:defRPr>
            </a:pPr>
            <a:r>
              <a:t>USER INPUT</a:t>
            </a:r>
            <a:br/>
            <a:r>
              <a:t>Upload PDF/Image  ·  Paste Text  ·  Voice (STT roadmap)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0" y="1984248"/>
            <a:ext cx="0" cy="192024"/>
          </a:xfrm>
          <a:prstGeom prst="line">
            <a:avLst/>
          </a:prstGeom>
          <a:ln w="25400">
            <a:solidFill>
              <a:srgbClr val="1A1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57200" y="2176272"/>
            <a:ext cx="2377440" cy="65836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A1A2E"/>
                </a:solidFill>
              </a:defRPr>
            </a:pPr>
            <a:r>
              <a:t>Next.js Frontend</a:t>
            </a:r>
            <a:br/>
            <a:r>
              <a:t>(port 3000)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2176272"/>
            <a:ext cx="3108960" cy="65836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A1A2E"/>
                </a:solidFill>
              </a:defRPr>
            </a:pPr>
            <a:r>
              <a:t>FastAPI Backend</a:t>
            </a:r>
            <a:br/>
            <a:r>
              <a:t>/api/analyze  ·  /api/pdf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176272"/>
            <a:ext cx="2286000" cy="65836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A1A2E"/>
                </a:solidFill>
              </a:defRPr>
            </a:pPr>
            <a:r>
              <a:t>Gradio Demo</a:t>
            </a:r>
            <a:br/>
            <a:r>
              <a:t>(Kaggle share=True)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34640" y="2505456"/>
            <a:ext cx="182880" cy="0"/>
          </a:xfrm>
          <a:prstGeom prst="line">
            <a:avLst/>
          </a:prstGeom>
          <a:ln w="25400">
            <a:solidFill>
              <a:srgbClr val="1A1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126480" y="2505456"/>
            <a:ext cx="274320" cy="0"/>
          </a:xfrm>
          <a:prstGeom prst="line">
            <a:avLst/>
          </a:prstGeom>
          <a:ln w="25400">
            <a:solidFill>
              <a:srgbClr val="1A1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572000" y="2834640"/>
            <a:ext cx="0" cy="228600"/>
          </a:xfrm>
          <a:prstGeom prst="line">
            <a:avLst/>
          </a:prstGeom>
          <a:ln w="25400">
            <a:solidFill>
              <a:srgbClr val="1A1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34640" y="3063240"/>
            <a:ext cx="3474720" cy="713232"/>
          </a:xfrm>
          <a:prstGeom prst="roundRect">
            <a:avLst/>
          </a:prstGeom>
          <a:solidFill>
            <a:srgbClr val="6366F1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GEMMA CALL 1 — EXTRACTION</a:t>
            </a:r>
            <a:br/>
            <a:r>
              <a:t>Notice → Structured JSON (parties, dates, deadline, sections cited)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0" y="3776472"/>
            <a:ext cx="0" cy="201167"/>
          </a:xfrm>
          <a:prstGeom prst="line">
            <a:avLst/>
          </a:prstGeom>
          <a:ln w="25400">
            <a:solidFill>
              <a:srgbClr val="1388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34640" y="3977639"/>
            <a:ext cx="3474720" cy="713232"/>
          </a:xfrm>
          <a:prstGeom prst="roundRect">
            <a:avLst/>
          </a:prstGeom>
          <a:solidFill>
            <a:srgbClr val="13880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GUARDED RAG RETRIEVAL</a:t>
            </a:r>
            <a:br/>
            <a:r>
              <a:t>TF-IDF search → legal_kb.json (55 verified Indian law clauses)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0" y="4690872"/>
            <a:ext cx="0" cy="201168"/>
          </a:xfrm>
          <a:prstGeom prst="line">
            <a:avLst/>
          </a:prstGeom>
          <a:ln w="25400">
            <a:solidFill>
              <a:srgbClr val="1A1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834640" y="4892040"/>
            <a:ext cx="3474720" cy="713232"/>
          </a:xfrm>
          <a:prstGeom prst="roundRect">
            <a:avLst/>
          </a:prstGeom>
          <a:solidFill>
            <a:srgbClr val="6366F1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GEMMA CALL 2 — REASONING</a:t>
            </a:r>
            <a:br/>
            <a:r>
              <a:t>Facts + clauses → Rights, Options, Action steps, Thinking trace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572000" y="5605272"/>
            <a:ext cx="0" cy="201168"/>
          </a:xfrm>
          <a:prstGeom prst="line">
            <a:avLst/>
          </a:prstGeom>
          <a:ln w="25400">
            <a:solidFill>
              <a:srgbClr val="1A1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834640" y="5806440"/>
            <a:ext cx="2377440" cy="658368"/>
          </a:xfrm>
          <a:prstGeom prst="roundRect">
            <a:avLst/>
          </a:prstGeom>
          <a:solidFill>
            <a:srgbClr val="6366F1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GEMMA CALL 3 — DRAFT</a:t>
            </a:r>
            <a:br/>
            <a:r>
              <a:t>Auto-filled Legal Reply / Consumer Complaint / RTI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760720.0" y="6135624"/>
            <a:ext cx="1554480.0" cy="0"/>
          </a:xfrm>
          <a:prstGeom prst="line">
            <a:avLst/>
          </a:prstGeom>
          <a:ln w="25400">
            <a:solidFill>
              <a:srgbClr val="1A1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223760" y="5669280"/>
            <a:ext cx="960120" cy="77724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1A1A2E"/>
                </a:solidFill>
              </a:defRPr>
            </a:pPr>
            <a:r>
              <a:t>Summary +</a:t>
            </a:r>
            <a:br/>
            <a:r>
              <a:t>Urgency Badge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5669280"/>
            <a:ext cx="960120" cy="77724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1A1A2E"/>
                </a:solidFill>
              </a:defRPr>
            </a:pPr>
            <a:r>
              <a:t>Action Plan</a:t>
            </a:r>
            <a:br/>
            <a:r>
              <a:t>(3 tabs)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52560" y="5669280"/>
            <a:ext cx="960120" cy="77724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1A1A2E"/>
                </a:solidFill>
              </a:defRPr>
            </a:pPr>
            <a:r>
              <a:t>Editable Draft</a:t>
            </a:r>
            <a:br/>
            <a:r>
              <a:t>+ PDF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5989320"/>
            <a:ext cx="3200400" cy="50292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1A1A2E"/>
                </a:solidFill>
              </a:defRPr>
            </a:pPr>
            <a:r>
              <a:t>🛡️ Anti-hallucination: every claim traces to retrieved clause</a:t>
            </a:r>
          </a:p>
        </p:txBody>
      </p:sp>
      <p:sp>
        <p:nvSpPr>
          <p:cNvPr id="25" name="Oval 24"/>
          <p:cNvSpPr/>
          <p:nvPr/>
        </p:nvSpPr>
        <p:spPr>
          <a:xfrm>
            <a:off x="365760" y="6537960"/>
            <a:ext cx="164592" cy="164592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6519672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User / UI</a:t>
            </a:r>
          </a:p>
        </p:txBody>
      </p:sp>
      <p:sp>
        <p:nvSpPr>
          <p:cNvPr id="27" name="Oval 26"/>
          <p:cNvSpPr/>
          <p:nvPr/>
        </p:nvSpPr>
        <p:spPr>
          <a:xfrm>
            <a:off x="1874520" y="6537960"/>
            <a:ext cx="164592" cy="164592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75688" y="6519672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Gemma 4</a:t>
            </a:r>
          </a:p>
        </p:txBody>
      </p:sp>
      <p:sp>
        <p:nvSpPr>
          <p:cNvPr id="29" name="Oval 28"/>
          <p:cNvSpPr/>
          <p:nvPr/>
        </p:nvSpPr>
        <p:spPr>
          <a:xfrm>
            <a:off x="3383280" y="6537960"/>
            <a:ext cx="164592" cy="164592"/>
          </a:xfrm>
          <a:prstGeom prst="ellipse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84448" y="6519672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RAG / Data</a:t>
            </a:r>
          </a:p>
        </p:txBody>
      </p:sp>
      <p:sp>
        <p:nvSpPr>
          <p:cNvPr id="31" name="Oval 30"/>
          <p:cNvSpPr/>
          <p:nvPr/>
        </p:nvSpPr>
        <p:spPr>
          <a:xfrm>
            <a:off x="4892040" y="6537960"/>
            <a:ext cx="164592" cy="164592"/>
          </a:xfrm>
          <a:prstGeom prst="ellipse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93208" y="6519672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Output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Deployment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515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64748B"/>
                </a:solidFill>
              </a:defRPr>
            </a:pPr>
            <a:r>
              <a:t>Local dev · Kaggle submission · Production path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97280"/>
            <a:ext cx="8503920" cy="1234440"/>
          </a:xfrm>
          <a:prstGeom prst="rect">
            <a:avLst/>
          </a:prstGeom>
          <a:solidFill>
            <a:srgbClr val="F8FAFC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1430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t>CLIENT LAYER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1828800" cy="86868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1A1A2E"/>
                </a:solidFill>
              </a:defRPr>
            </a:pPr>
            <a:r>
              <a:t>Citizen / Ramesh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03120" y="1828800"/>
            <a:ext cx="1828800" cy="86868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1A1A2E"/>
                </a:solidFill>
              </a:defRPr>
            </a:pPr>
            <a:r>
              <a:t>Web Browser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49039" y="1828800"/>
            <a:ext cx="1828800" cy="86868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1A1A2E"/>
                </a:solidFill>
              </a:defRPr>
            </a:pPr>
            <a:r>
              <a:t>Mobile (future)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468880"/>
            <a:ext cx="8503920" cy="1234440"/>
          </a:xfrm>
          <a:prstGeom prst="rect">
            <a:avLst/>
          </a:prstGeom>
          <a:solidFill>
            <a:srgbClr val="F8FAFC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5146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t>APPLICATION LAYER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200400"/>
            <a:ext cx="1828800" cy="86868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1A1A2E"/>
                </a:solidFill>
              </a:defRPr>
            </a:pPr>
            <a:r>
              <a:t>Next.js 14</a:t>
            </a:r>
            <a:br/>
            <a:r>
              <a:t>Tailwind + 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0320" y="3200400"/>
            <a:ext cx="1828800" cy="86868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1A1A2E"/>
                </a:solidFill>
              </a:defRPr>
            </a:pPr>
            <a:r>
              <a:t>FastAPI</a:t>
            </a:r>
            <a:br/>
            <a:r>
              <a:t>REST API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3200400"/>
            <a:ext cx="1828800" cy="86868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1A1A2E"/>
                </a:solidFill>
              </a:defRPr>
            </a:pPr>
            <a:r>
              <a:t>Gradio UI</a:t>
            </a:r>
            <a:br/>
            <a:r>
              <a:t>Kaggle Demo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66560" y="3200400"/>
            <a:ext cx="1828800" cy="86868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1A1A2E"/>
                </a:solidFill>
              </a:defRPr>
            </a:pPr>
            <a:r>
              <a:t>Case History</a:t>
            </a:r>
            <a:br/>
            <a:r>
              <a:t>(localStorage)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023360"/>
            <a:ext cx="8503920" cy="1234440"/>
          </a:xfrm>
          <a:prstGeom prst="rect">
            <a:avLst/>
          </a:prstGeom>
          <a:solidFill>
            <a:srgbClr val="F8FAFC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40690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t>AI LAYER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754880"/>
            <a:ext cx="1828800" cy="868680"/>
          </a:xfrm>
          <a:prstGeom prst="roundRect">
            <a:avLst/>
          </a:prstGeom>
          <a:solidFill>
            <a:srgbClr val="6366F1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Gemma 4 E2B-IT</a:t>
            </a:r>
            <a:br/>
            <a:r>
              <a:t>4-bit quantized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0" y="4754880"/>
            <a:ext cx="1828800" cy="868680"/>
          </a:xfrm>
          <a:prstGeom prst="roundRect">
            <a:avLst/>
          </a:prstGeom>
          <a:solidFill>
            <a:srgbClr val="6366F1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Pipeline</a:t>
            </a:r>
            <a:br/>
            <a:r>
              <a:t>extract→reason→draft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4754880"/>
            <a:ext cx="1828800" cy="868680"/>
          </a:xfrm>
          <a:prstGeom prst="roundRect">
            <a:avLst/>
          </a:prstGeom>
          <a:solidFill>
            <a:srgbClr val="6366F1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PDF Generator</a:t>
            </a:r>
            <a:br/>
            <a:r>
              <a:t>fpdf2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0" y="4754880"/>
            <a:ext cx="1828800" cy="868680"/>
          </a:xfrm>
          <a:prstGeom prst="roundRect">
            <a:avLst/>
          </a:prstGeom>
          <a:solidFill>
            <a:srgbClr val="6366F1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Mock Mode</a:t>
            </a:r>
            <a:br/>
            <a:r>
              <a:t>NYAY_MITRA_DEV=1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5577840"/>
            <a:ext cx="8503920" cy="1234440"/>
          </a:xfrm>
          <a:prstGeom prst="rect">
            <a:avLst/>
          </a:prstGeom>
          <a:solidFill>
            <a:srgbClr val="F8FAFC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56235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t>DATA LAYER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6309360"/>
            <a:ext cx="1828800" cy="86868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1A1A2E"/>
                </a:solidFill>
              </a:defRPr>
            </a:pPr>
            <a:r>
              <a:t>legal_kb.json</a:t>
            </a:r>
            <a:br/>
            <a:r>
              <a:t>55 clauses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560320" y="6309360"/>
            <a:ext cx="1828800" cy="86868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1A1A2E"/>
                </a:solidFill>
              </a:defRPr>
            </a:pPr>
            <a:r>
              <a:t>draft_templates.json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63440" y="6309360"/>
            <a:ext cx="1828800" cy="86868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1A1A2E"/>
                </a:solidFill>
              </a:defRPr>
            </a:pPr>
            <a:r>
              <a:t>sample_notices/</a:t>
            </a:r>
            <a:br/>
            <a:r>
              <a:t>6 test cases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766560" y="6309360"/>
            <a:ext cx="1828800" cy="86868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1A1A2E"/>
                </a:solidFill>
              </a:defRPr>
            </a:pPr>
            <a:r>
              <a:t>India Code · NI Act</a:t>
            </a:r>
            <a:br/>
            <a:r>
              <a:t>RTI · Consumer Act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1234440"/>
            <a:ext cx="25603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1A1A2E"/>
                </a:solidFill>
              </a:defRPr>
            </a:pPr>
            <a:r>
              <a:t>LOCAL DEV</a:t>
            </a:r>
            <a:br/>
            <a:r>
              <a:t>Mac + mock Gemma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00400" y="1234440"/>
            <a:ext cx="2560320" cy="59436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A1A2E"/>
                </a:solidFill>
              </a:defRPr>
            </a:pPr>
            <a:r>
              <a:t>KAGGLE SUBMIT</a:t>
            </a:r>
            <a:br/>
            <a:r>
              <a:t>GPU T4 + real Gemma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35040" y="1234440"/>
            <a:ext cx="25603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1A1A2E"/>
                </a:solidFill>
              </a:defRPr>
            </a:pPr>
            <a:r>
              <a:t>PRODUCTION</a:t>
            </a:r>
            <a:br/>
            <a:r>
              <a:t>Vercel + Railway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645920" y="1828800"/>
            <a:ext cx="0" cy="320040"/>
          </a:xfrm>
          <a:prstGeom prst="line">
            <a:avLst/>
          </a:prstGeom>
          <a:ln w="25400">
            <a:solidFill>
              <a:srgbClr val="1A1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474720" y="2697480"/>
            <a:ext cx="0" cy="365760"/>
          </a:xfrm>
          <a:prstGeom prst="line">
            <a:avLst/>
          </a:prstGeom>
          <a:ln w="25400">
            <a:solidFill>
              <a:srgbClr val="1A1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657600" y="4069080"/>
            <a:ext cx="0" cy="365760"/>
          </a:xfrm>
          <a:prstGeom prst="line">
            <a:avLst/>
          </a:prstGeom>
          <a:ln w="25400">
            <a:solidFill>
              <a:srgbClr val="1A1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828800" y="5623560"/>
            <a:ext cx="0" cy="365760"/>
          </a:xfrm>
          <a:prstGeom prst="line">
            <a:avLst/>
          </a:prstGeom>
          <a:ln w="25400">
            <a:solidFill>
              <a:srgbClr val="1A1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Gemma 4 Integration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515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64748B"/>
                </a:solidFill>
              </a:defRPr>
            </a:pPr>
            <a:r>
              <a:t>3 distinct model calls — 30% of hackathon evaluation score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1280160"/>
            <a:ext cx="3291840" cy="59436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1A2E"/>
                </a:solidFill>
              </a:defRPr>
            </a:pPr>
            <a:r>
              <a:t>Raw Legal Notice (text / image / PDF)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0" y="1874519"/>
            <a:ext cx="0" cy="228601"/>
          </a:xfrm>
          <a:prstGeom prst="line">
            <a:avLst/>
          </a:prstGeom>
          <a:ln w="25400">
            <a:solidFill>
              <a:srgbClr val="1A1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1828800" y="2103120"/>
            <a:ext cx="5486400" cy="960120"/>
          </a:xfrm>
          <a:prstGeom prst="roundRect">
            <a:avLst/>
          </a:prstGeom>
          <a:solidFill>
            <a:srgbClr val="6366F1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CALL 1 — EXTRACTION</a:t>
            </a:r>
            <a:br/>
            <a:r>
              <a:t>System prompt + strict JSON schema → document_type, parties, deadline_date,</a:t>
            </a:r>
            <a:br/>
            <a:r>
              <a:t>legal_sections_cited, key_demands, language_detected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0" y="3063240"/>
            <a:ext cx="0" cy="182880"/>
          </a:xfrm>
          <a:prstGeom prst="line">
            <a:avLst/>
          </a:prstGeom>
          <a:ln w="25400">
            <a:solidFill>
              <a:srgbClr val="1A1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65760" y="3246120"/>
            <a:ext cx="2286000" cy="914400"/>
          </a:xfrm>
          <a:prstGeom prst="roundRect">
            <a:avLst/>
          </a:prstGeom>
          <a:solidFill>
            <a:srgbClr val="13880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RAG (not Gemma)</a:t>
            </a:r>
            <a:br/>
            <a:r>
              <a:t>TF-IDF cosine</a:t>
            </a:r>
            <a:br/>
            <a:r>
              <a:t>similarity</a:t>
            </a:r>
            <a:br/>
            <a:r>
              <a:t>Top-K clauses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3246120"/>
            <a:ext cx="3291840" cy="91440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A1A2E"/>
                </a:solidFill>
              </a:defRPr>
            </a:pPr>
            <a:r>
              <a:t>Structured Facts JSON</a:t>
            </a:r>
            <a:br/>
            <a:r>
              <a:t>+ Retrieved Clauses</a:t>
            </a:r>
            <a:br/>
            <a:r>
              <a:t>→ combined context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51760" y="3703320"/>
            <a:ext cx="274320" cy="0"/>
          </a:xfrm>
          <a:prstGeom prst="line">
            <a:avLst/>
          </a:prstGeom>
          <a:ln w="25400">
            <a:solidFill>
              <a:srgbClr val="1A1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572000" y="4160520"/>
            <a:ext cx="0" cy="182880"/>
          </a:xfrm>
          <a:prstGeom prst="line">
            <a:avLst/>
          </a:prstGeom>
          <a:ln w="25400">
            <a:solidFill>
              <a:srgbClr val="1A1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371600" y="4343400"/>
            <a:ext cx="6400800" cy="1005840"/>
          </a:xfrm>
          <a:prstGeom prst="roundRect">
            <a:avLst/>
          </a:prstGeom>
          <a:solidFill>
            <a:srgbClr val="6366F1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CALL 2 — GROUNDED REASONING</a:t>
            </a:r>
            <a:br/>
            <a:r>
              <a:t>plain_language_summary · your_rights[] · your_options[] · action_steps[] · thinking_trace[]</a:t>
            </a:r>
            <a:br/>
            <a:r>
              <a:t>Every right MUST cite a retrieved clause — no invented law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0" y="5349240"/>
            <a:ext cx="0" cy="182880"/>
          </a:xfrm>
          <a:prstGeom prst="line">
            <a:avLst/>
          </a:prstGeom>
          <a:ln w="25400">
            <a:solidFill>
              <a:srgbClr val="1A1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371600" y="5532120"/>
            <a:ext cx="6400800" cy="868680"/>
          </a:xfrm>
          <a:prstGeom prst="roundRect">
            <a:avLst/>
          </a:prstGeom>
          <a:solidFill>
            <a:srgbClr val="6366F1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CALL 3 — DRAFT GENERATION</a:t>
            </a:r>
            <a:br/>
            <a:r>
              <a:t>Template: Legal Reply | Consumer Complaint | RTI → auto-filled letter + PDF export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1280160"/>
            <a:ext cx="2103120" cy="502920"/>
          </a:xfrm>
          <a:prstGeom prst="roundRect">
            <a:avLst/>
          </a:prstGeom>
          <a:solidFill>
            <a:srgbClr val="FF9933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Why Gemma 4?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1828800"/>
            <a:ext cx="210312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1A1A2E"/>
                </a:solidFill>
              </a:defRPr>
            </a:pPr>
            <a:r>
              <a:t>• Open-source trust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2212848"/>
            <a:ext cx="210312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1A1A2E"/>
                </a:solidFill>
              </a:defRPr>
            </a:pPr>
            <a:r>
              <a:t>• Hindi + English native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2596896"/>
            <a:ext cx="210312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1A1A2E"/>
                </a:solidFill>
              </a:defRPr>
            </a:pPr>
            <a:r>
              <a:t>• Multimodal vision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2980944"/>
            <a:ext cx="210312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1A1A2E"/>
                </a:solidFill>
              </a:defRPr>
            </a:pPr>
            <a:r>
              <a:t>• Structured JSON output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3364991"/>
            <a:ext cx="210312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1A1A2E"/>
                </a:solidFill>
              </a:defRPr>
            </a:pPr>
            <a:r>
              <a:t>• Edge deploy (E2B/E4B)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Feature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515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64748B"/>
                </a:solidFill>
              </a:defRPr>
            </a:pPr>
            <a:r>
              <a:t>Built now vs teammate vision (roadmap)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325880"/>
            <a:ext cx="1965960" cy="100584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1A1A2E"/>
                </a:solidFill>
              </a:defRPr>
            </a:pPr>
            <a:r>
              <a:t>🎤 Voice-First Input</a:t>
            </a:r>
            <a:br/>
            <a:r>
              <a:t>Speak in Hindi/regional</a:t>
            </a:r>
            <a:br/>
            <a:r>
              <a:t>languages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83080" y="2286000"/>
            <a:ext cx="502920" cy="201168"/>
          </a:xfrm>
          <a:prstGeom prst="round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ROADMAP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68880" y="1325880"/>
            <a:ext cx="1965960" cy="100584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1A1A2E"/>
                </a:solidFill>
              </a:defRPr>
            </a:pPr>
            <a:r>
              <a:t>🛡️ Guarded RAG</a:t>
            </a:r>
            <a:br/>
            <a:r>
              <a:t>55 curated clauses</a:t>
            </a:r>
            <a:br/>
            <a:r>
              <a:t>TF-IDF retrieval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86200" y="2286000"/>
            <a:ext cx="502920" cy="201168"/>
          </a:xfrm>
          <a:prstGeom prst="round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LIVE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325880"/>
            <a:ext cx="1965960" cy="100584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1A1A2E"/>
                </a:solidFill>
              </a:defRPr>
            </a:pPr>
            <a:r>
              <a:t>🧠 Thinking Mode</a:t>
            </a:r>
            <a:br/>
            <a:r>
              <a:t>Step-by-step Gemma</a:t>
            </a:r>
            <a:br/>
            <a:r>
              <a:t>reasoning trace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2286000"/>
            <a:ext cx="502920" cy="201168"/>
          </a:xfrm>
          <a:prstGeom prst="round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LIVE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1325880"/>
            <a:ext cx="1965960" cy="100584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1A1A2E"/>
                </a:solidFill>
              </a:defRPr>
            </a:pPr>
            <a:r>
              <a:t>📋 3-Part Output</a:t>
            </a:r>
            <a:br/>
            <a:r>
              <a:t>Rights · Options ·</a:t>
            </a:r>
            <a:br/>
            <a:r>
              <a:t>Ready template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2286000"/>
            <a:ext cx="502920" cy="201168"/>
          </a:xfrm>
          <a:prstGeom prst="round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LIVE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670048"/>
            <a:ext cx="1965960" cy="100584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1A1A2E"/>
                </a:solidFill>
              </a:defRPr>
            </a:pPr>
            <a:r>
              <a:t>⏱️ Deadline Alert</a:t>
            </a:r>
            <a:br/>
            <a:r>
              <a:t>Countdown + urgency</a:t>
            </a:r>
            <a:br/>
            <a:r>
              <a:t>HIGH/MED/LOW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783080" y="3630168"/>
            <a:ext cx="502920" cy="201168"/>
          </a:xfrm>
          <a:prstGeom prst="round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LIVE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68880" y="2670048"/>
            <a:ext cx="1965960" cy="100584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1A1A2E"/>
                </a:solidFill>
              </a:defRPr>
            </a:pPr>
            <a:r>
              <a:t>📄 PDF Export</a:t>
            </a:r>
            <a:br/>
            <a:r>
              <a:t>Download legal</a:t>
            </a:r>
            <a:br/>
            <a:r>
              <a:t>draft instantly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86200" y="3630168"/>
            <a:ext cx="502920" cy="201168"/>
          </a:xfrm>
          <a:prstGeom prst="round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LIVE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2670048"/>
            <a:ext cx="1965960" cy="100584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1A1A2E"/>
                </a:solidFill>
              </a:defRPr>
            </a:pPr>
            <a:r>
              <a:t>🌐 Hindi + English</a:t>
            </a:r>
            <a:br/>
            <a:r>
              <a:t>Bilingual output</a:t>
            </a:r>
            <a:br/>
            <a:r>
              <a:t>toggle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89320" y="3630168"/>
            <a:ext cx="502920" cy="201168"/>
          </a:xfrm>
          <a:prstGeom prst="round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LIVE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75120" y="2670048"/>
            <a:ext cx="1965960" cy="100584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1A1A2E"/>
                </a:solidFill>
              </a:defRPr>
            </a:pPr>
            <a:r>
              <a:t>📚 Case History</a:t>
            </a:r>
            <a:br/>
            <a:r>
              <a:t>localStorage</a:t>
            </a:r>
            <a:br/>
            <a:r>
              <a:t>past analyses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3630168"/>
            <a:ext cx="502920" cy="201168"/>
          </a:xfrm>
          <a:prstGeom prst="round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LIVE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4014216"/>
            <a:ext cx="1965960" cy="100584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1A1A2E"/>
                </a:solidFill>
              </a:defRPr>
            </a:pPr>
            <a:r>
              <a:t>🔒 Offline Edge</a:t>
            </a:r>
            <a:br/>
            <a:r>
              <a:t>Gemma on CSC</a:t>
            </a:r>
            <a:br/>
            <a:r>
              <a:t>kiosk tablets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783080" y="4974336"/>
            <a:ext cx="502920" cy="201168"/>
          </a:xfrm>
          <a:prstGeom prst="round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ROADMAP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68880" y="4014216"/>
            <a:ext cx="1965960" cy="100584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1A1A2E"/>
                </a:solidFill>
              </a:defRPr>
            </a:pPr>
            <a:r>
              <a:t>🗄️ ChromaDB RAG</a:t>
            </a:r>
            <a:br/>
            <a:r>
              <a:t>Vector search</a:t>
            </a:r>
            <a:br/>
            <a:r>
              <a:t>at scale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86200" y="4974336"/>
            <a:ext cx="502920" cy="201168"/>
          </a:xfrm>
          <a:prstGeom prst="round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ROADMAP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0" y="4014216"/>
            <a:ext cx="1965960" cy="100584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1A1A2E"/>
                </a:solidFill>
              </a:defRPr>
            </a:pPr>
            <a:r>
              <a:t>📱 Next.js App</a:t>
            </a:r>
            <a:br/>
            <a:r>
              <a:t>Full production</a:t>
            </a:r>
            <a:br/>
            <a:r>
              <a:t>web UI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89320" y="4974336"/>
            <a:ext cx="502920" cy="201168"/>
          </a:xfrm>
          <a:prstGeom prst="round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LIVE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75120" y="4014216"/>
            <a:ext cx="1965960" cy="100584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1A1A2E"/>
                </a:solidFill>
              </a:defRPr>
            </a:pPr>
            <a:r>
              <a:t>⚖️ Disclaimer</a:t>
            </a:r>
            <a:br/>
            <a:r>
              <a:t>On every screen</a:t>
            </a:r>
            <a:br/>
            <a:r>
              <a:t>— not legal advice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92440" y="4974336"/>
            <a:ext cx="502920" cy="201168"/>
          </a:xfrm>
          <a:prstGeom prst="round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LIVE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80160"/>
            <a:ext cx="4114800" cy="411480"/>
          </a:xfrm>
          <a:prstGeom prst="roundRect">
            <a:avLst/>
          </a:prstGeom>
          <a:solidFill>
            <a:srgbClr val="6366F1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AI / 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38404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</a:defRPr>
            </a:pPr>
            <a:r>
              <a:t>▸ Gemma 4 E2B-IT (multimodal)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</a:defRPr>
            </a:pPr>
            <a:r>
              <a:t>▸ Transformers + BitsAndBytes 4-bit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</a:defRPr>
            </a:pPr>
            <a:r>
              <a:t>▸ 3-call pipeline (extract/reason/draft)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</a:defRPr>
            </a:pPr>
            <a:r>
              <a:t>▸ TF-IDF RAG (scikit-learn)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</a:defRPr>
            </a:pPr>
            <a:r>
              <a:t>▸ Structured JSON prompting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280160"/>
            <a:ext cx="4114800" cy="41148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A1A2E"/>
                </a:solidFill>
              </a:defRPr>
            </a:pPr>
            <a:r>
              <a:t>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92040" y="1783080"/>
            <a:ext cx="38404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</a:defRPr>
            </a:pPr>
            <a:r>
              <a:t>▸ Python 3.11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</a:defRPr>
            </a:pPr>
            <a:r>
              <a:t>▸ FastAPI + Uvicorn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</a:defRPr>
            </a:pPr>
            <a:r>
              <a:t>▸ PyMuPDF + Tesseract OCR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</a:defRPr>
            </a:pPr>
            <a:r>
              <a:t>▸ fpdf2 PDF generation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</a:defRPr>
            </a:pPr>
            <a:r>
              <a:t>▸ Docker Compose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3886200"/>
            <a:ext cx="4114800" cy="41148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A1A2E"/>
                </a:solidFill>
              </a:defRPr>
            </a:pPr>
            <a: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389120"/>
            <a:ext cx="38404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</a:defRPr>
            </a:pPr>
            <a:r>
              <a:t>▸ Next.js 14 (App Router)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</a:defRPr>
            </a:pPr>
            <a:r>
              <a:t>▸ TypeScript + Tailwind CSS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</a:defRPr>
            </a:pPr>
            <a:r>
              <a:t>▸ Tabs: Summary / Actions / Draft / Sources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</a:defRPr>
            </a:pPr>
            <a:r>
              <a:t>▸ Deadline countdown UI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</a:defRPr>
            </a:pPr>
            <a:r>
              <a:t>▸ API health indicator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3886200"/>
            <a:ext cx="4114800" cy="41148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A1A2E"/>
                </a:solidFill>
              </a:defRPr>
            </a:pPr>
            <a:r>
              <a:t>Deploy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4389120"/>
            <a:ext cx="38404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</a:defRPr>
            </a:pPr>
            <a:r>
              <a:t>▸ Kaggle Notebook (GPU T4)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</a:defRPr>
            </a:pPr>
            <a:r>
              <a:t>▸ Gradio 4.44 (public share URL)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</a:defRPr>
            </a:pPr>
            <a:r>
              <a:t>▸ GitHub: Harsh7t/Judisurely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</a:defRPr>
            </a:pPr>
            <a:r>
              <a:t>▸ Vercel (FE) + Railway (BE)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</a:defRPr>
            </a:pPr>
            <a:r>
              <a:t>▸ Edge: Gemma Nano (future)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Impact &amp; Submission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80160"/>
            <a:ext cx="3931920" cy="201168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1A1A2E"/>
                </a:solidFill>
              </a:defRPr>
            </a:pPr>
            <a:r>
              <a:t>IMPACT</a:t>
            </a:r>
            <a:br/>
            <a:br/>
            <a:r>
              <a:t>• ₹1,500–5,000 consultation → ₹0 first step</a:t>
            </a:r>
            <a:br/>
            <a:r>
              <a:t>• Scoped: Rent · Cheque bounce · Consumer · RTI</a:t>
            </a:r>
            <a:br/>
            <a:r>
              <a:t>• Deep accuracy &gt; shallow all-India coverage</a:t>
            </a:r>
            <a:br/>
            <a:r>
              <a:t>• Built for 140 crore citizens, not lawyers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1280160"/>
            <a:ext cx="4114800" cy="201168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1A1A2E"/>
                </a:solidFill>
              </a:defRPr>
            </a:pPr>
            <a:r>
              <a:t>SUBMISSION</a:t>
            </a:r>
            <a:br/>
            <a:br/>
            <a:r>
              <a:t>• Kaggle Writeup (≤1500 words)</a:t>
            </a:r>
            <a:br/>
            <a:r>
              <a:t>• GitHub: github.com/Harsh7t/Judisurely</a:t>
            </a:r>
            <a:br/>
            <a:r>
              <a:t>• Live Demo: Gradio public URL</a:t>
            </a:r>
            <a:br/>
            <a:r>
              <a:t>• Team: Harshit · Prem · Shreya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3566160"/>
            <a:ext cx="8321040" cy="137160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1A1A2E"/>
                </a:solidFill>
              </a:defRPr>
            </a:pPr>
            <a:r>
              <a:t>FUTURE ROADMAP</a:t>
            </a:r>
            <a:br/>
            <a:br/>
            <a:r>
              <a:t>Voice STT (10+ languages)  →  ChromaDB vector RAG  →  On-device Gemma E2B  →  CSC kiosk partnerships  →  Legal aid NGO integrations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5212080"/>
            <a:ext cx="8321040" cy="9144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9933"/>
                </a:solidFill>
              </a:defRPr>
            </a:pPr>
            <a:r>
              <a:t>"Every other tool answers 'What does this mean?'</a:t>
            </a:r>
            <a:br/>
            <a:r>
              <a:t>Nyay Mitra answers 'What do I do NOW?' — and hands you the document to do it."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2636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A1A2E"/>
                </a:solidFill>
              </a:defRPr>
            </a:pPr>
            <a:r>
              <a:t>Thank you!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